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2"/>
    <p:sldId id="258" r:id="rId3"/>
    <p:sldId id="260" r:id="rId4"/>
    <p:sldId id="259" r:id="rId5"/>
    <p:sldId id="261" r:id="rId6"/>
    <p:sldId id="262" r:id="rId7"/>
    <p:sldId id="264" r:id="rId8"/>
    <p:sldId id="287" r:id="rId9"/>
    <p:sldId id="265" r:id="rId10"/>
    <p:sldId id="288" r:id="rId11"/>
    <p:sldId id="266" r:id="rId12"/>
    <p:sldId id="289" r:id="rId13"/>
    <p:sldId id="285" r:id="rId14"/>
    <p:sldId id="286" r:id="rId15"/>
    <p:sldId id="281" r:id="rId16"/>
    <p:sldId id="284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6C8E7-A71C-43D9-89B4-5E9DC1AEE64E}" v="8" dt="2026-08-31T03:21:45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 Keerthana" userId="0862dacf09f3b73d" providerId="LiveId" clId="{242C73C2-E1F4-4639-AF2E-01D1AD67371D}"/>
    <pc:docChg chg="undo custSel addSld modSld">
      <pc:chgData name="Anu Keerthana" userId="0862dacf09f3b73d" providerId="LiveId" clId="{242C73C2-E1F4-4639-AF2E-01D1AD67371D}" dt="2026-08-31T04:39:14.755" v="123" actId="1076"/>
      <pc:docMkLst>
        <pc:docMk/>
      </pc:docMkLst>
      <pc:sldChg chg="modSp mod">
        <pc:chgData name="Anu Keerthana" userId="0862dacf09f3b73d" providerId="LiveId" clId="{242C73C2-E1F4-4639-AF2E-01D1AD67371D}" dt="2026-08-25T15:36:54.870" v="18" actId="20577"/>
        <pc:sldMkLst>
          <pc:docMk/>
          <pc:sldMk cId="2494235772" sldId="281"/>
        </pc:sldMkLst>
        <pc:spChg chg="mod">
          <ac:chgData name="Anu Keerthana" userId="0862dacf09f3b73d" providerId="LiveId" clId="{242C73C2-E1F4-4639-AF2E-01D1AD67371D}" dt="2026-08-25T15:36:54.870" v="18" actId="20577"/>
          <ac:spMkLst>
            <pc:docMk/>
            <pc:sldMk cId="2494235772" sldId="281"/>
            <ac:spMk id="2" creationId="{5D3DD973-DAA3-480E-A7C5-1B2AE0EE6C6F}"/>
          </ac:spMkLst>
        </pc:spChg>
      </pc:sldChg>
      <pc:sldChg chg="addSp delSp modSp add mod">
        <pc:chgData name="Anu Keerthana" userId="0862dacf09f3b73d" providerId="LiveId" clId="{242C73C2-E1F4-4639-AF2E-01D1AD67371D}" dt="2026-08-31T02:52:16.634" v="54" actId="1076"/>
        <pc:sldMkLst>
          <pc:docMk/>
          <pc:sldMk cId="2424191261" sldId="285"/>
        </pc:sldMkLst>
        <pc:spChg chg="mod">
          <ac:chgData name="Anu Keerthana" userId="0862dacf09f3b73d" providerId="LiveId" clId="{242C73C2-E1F4-4639-AF2E-01D1AD67371D}" dt="2026-08-31T02:44:53.503" v="22"/>
          <ac:spMkLst>
            <pc:docMk/>
            <pc:sldMk cId="2424191261" sldId="285"/>
            <ac:spMk id="2" creationId="{C396F82F-A275-C65F-6FDC-380BA3CC9FE4}"/>
          </ac:spMkLst>
        </pc:spChg>
        <pc:spChg chg="add mod">
          <ac:chgData name="Anu Keerthana" userId="0862dacf09f3b73d" providerId="LiveId" clId="{242C73C2-E1F4-4639-AF2E-01D1AD67371D}" dt="2026-08-31T02:52:16.634" v="54" actId="1076"/>
          <ac:spMkLst>
            <pc:docMk/>
            <pc:sldMk cId="2424191261" sldId="285"/>
            <ac:spMk id="3" creationId="{77BE3FFA-2584-2C0A-5AF9-B41EED0DCB54}"/>
          </ac:spMkLst>
        </pc:spChg>
        <pc:spChg chg="del mod">
          <ac:chgData name="Anu Keerthana" userId="0862dacf09f3b73d" providerId="LiveId" clId="{242C73C2-E1F4-4639-AF2E-01D1AD67371D}" dt="2026-08-31T02:44:54.950" v="24"/>
          <ac:spMkLst>
            <pc:docMk/>
            <pc:sldMk cId="2424191261" sldId="285"/>
            <ac:spMk id="6" creationId="{516943A5-B4A3-B371-7253-E808DF714FD1}"/>
          </ac:spMkLst>
        </pc:spChg>
      </pc:sldChg>
      <pc:sldChg chg="addSp modSp add mod">
        <pc:chgData name="Anu Keerthana" userId="0862dacf09f3b73d" providerId="LiveId" clId="{242C73C2-E1F4-4639-AF2E-01D1AD67371D}" dt="2026-08-31T02:51:27.466" v="47" actId="1076"/>
        <pc:sldMkLst>
          <pc:docMk/>
          <pc:sldMk cId="919084798" sldId="286"/>
        </pc:sldMkLst>
        <pc:spChg chg="mod">
          <ac:chgData name="Anu Keerthana" userId="0862dacf09f3b73d" providerId="LiveId" clId="{242C73C2-E1F4-4639-AF2E-01D1AD67371D}" dt="2026-08-31T02:47:49.620" v="27"/>
          <ac:spMkLst>
            <pc:docMk/>
            <pc:sldMk cId="919084798" sldId="286"/>
            <ac:spMk id="2" creationId="{831A996D-1150-5ACE-F224-7C148156852F}"/>
          </ac:spMkLst>
        </pc:spChg>
        <pc:spChg chg="add mod">
          <ac:chgData name="Anu Keerthana" userId="0862dacf09f3b73d" providerId="LiveId" clId="{242C73C2-E1F4-4639-AF2E-01D1AD67371D}" dt="2026-08-31T02:51:27.466" v="47" actId="1076"/>
          <ac:spMkLst>
            <pc:docMk/>
            <pc:sldMk cId="919084798" sldId="286"/>
            <ac:spMk id="3" creationId="{BCD6DE33-F65F-F562-1028-A4465BD43300}"/>
          </ac:spMkLst>
        </pc:spChg>
      </pc:sldChg>
      <pc:sldChg chg="addSp delSp modSp add mod">
        <pc:chgData name="Anu Keerthana" userId="0862dacf09f3b73d" providerId="LiveId" clId="{242C73C2-E1F4-4639-AF2E-01D1AD67371D}" dt="2026-08-31T04:38:26.377" v="115" actId="1076"/>
        <pc:sldMkLst>
          <pc:docMk/>
          <pc:sldMk cId="2734891501" sldId="287"/>
        </pc:sldMkLst>
        <pc:spChg chg="mod">
          <ac:chgData name="Anu Keerthana" userId="0862dacf09f3b73d" providerId="LiveId" clId="{242C73C2-E1F4-4639-AF2E-01D1AD67371D}" dt="2026-08-31T03:18:50.090" v="71" actId="20577"/>
          <ac:spMkLst>
            <pc:docMk/>
            <pc:sldMk cId="2734891501" sldId="287"/>
            <ac:spMk id="2" creationId="{24052F44-EE6D-D439-4405-83864EB37F8F}"/>
          </ac:spMkLst>
        </pc:spChg>
        <pc:spChg chg="del mod">
          <ac:chgData name="Anu Keerthana" userId="0862dacf09f3b73d" providerId="LiveId" clId="{242C73C2-E1F4-4639-AF2E-01D1AD67371D}" dt="2026-08-31T03:20:04.767" v="80"/>
          <ac:spMkLst>
            <pc:docMk/>
            <pc:sldMk cId="2734891501" sldId="287"/>
            <ac:spMk id="8" creationId="{FB705E00-B4A4-71D9-109F-80A6D51B9C92}"/>
          </ac:spMkLst>
        </pc:spChg>
        <pc:picChg chg="add mod">
          <ac:chgData name="Anu Keerthana" userId="0862dacf09f3b73d" providerId="LiveId" clId="{242C73C2-E1F4-4639-AF2E-01D1AD67371D}" dt="2026-08-31T03:19:50.763" v="78" actId="1076"/>
          <ac:picMkLst>
            <pc:docMk/>
            <pc:sldMk cId="2734891501" sldId="287"/>
            <ac:picMk id="6" creationId="{F98952BF-0185-C5E2-4306-301C6473EC88}"/>
          </ac:picMkLst>
        </pc:picChg>
        <pc:picChg chg="add mod">
          <ac:chgData name="Anu Keerthana" userId="0862dacf09f3b73d" providerId="LiveId" clId="{242C73C2-E1F4-4639-AF2E-01D1AD67371D}" dt="2026-08-31T04:38:26.377" v="115" actId="1076"/>
          <ac:picMkLst>
            <pc:docMk/>
            <pc:sldMk cId="2734891501" sldId="287"/>
            <ac:picMk id="8" creationId="{69C61621-20EC-829D-5901-AC06CEDD3E7D}"/>
          </ac:picMkLst>
        </pc:picChg>
      </pc:sldChg>
      <pc:sldChg chg="addSp delSp modSp add mod">
        <pc:chgData name="Anu Keerthana" userId="0862dacf09f3b73d" providerId="LiveId" clId="{242C73C2-E1F4-4639-AF2E-01D1AD67371D}" dt="2026-08-31T04:38:56.723" v="119" actId="1076"/>
        <pc:sldMkLst>
          <pc:docMk/>
          <pc:sldMk cId="2067827492" sldId="288"/>
        </pc:sldMkLst>
        <pc:spChg chg="mod">
          <ac:chgData name="Anu Keerthana" userId="0862dacf09f3b73d" providerId="LiveId" clId="{242C73C2-E1F4-4639-AF2E-01D1AD67371D}" dt="2026-08-31T03:20:38.174" v="86" actId="20577"/>
          <ac:spMkLst>
            <pc:docMk/>
            <pc:sldMk cId="2067827492" sldId="288"/>
            <ac:spMk id="2" creationId="{C9D59A78-F5F7-797F-E232-662BF2B0B6EB}"/>
          </ac:spMkLst>
        </pc:spChg>
        <pc:spChg chg="del mod">
          <ac:chgData name="Anu Keerthana" userId="0862dacf09f3b73d" providerId="LiveId" clId="{242C73C2-E1F4-4639-AF2E-01D1AD67371D}" dt="2026-08-31T03:20:39.530" v="88"/>
          <ac:spMkLst>
            <pc:docMk/>
            <pc:sldMk cId="2067827492" sldId="288"/>
            <ac:spMk id="3" creationId="{31887EF6-DFD4-AA07-D1DD-CFBC65D0DA40}"/>
          </ac:spMkLst>
        </pc:spChg>
        <pc:picChg chg="add mod">
          <ac:chgData name="Anu Keerthana" userId="0862dacf09f3b73d" providerId="LiveId" clId="{242C73C2-E1F4-4639-AF2E-01D1AD67371D}" dt="2026-08-31T04:38:56.723" v="119" actId="1076"/>
          <ac:picMkLst>
            <pc:docMk/>
            <pc:sldMk cId="2067827492" sldId="288"/>
            <ac:picMk id="6" creationId="{3D50263D-CB89-1B57-BC37-117473E7B266}"/>
          </ac:picMkLst>
        </pc:picChg>
        <pc:picChg chg="add del mod">
          <ac:chgData name="Anu Keerthana" userId="0862dacf09f3b73d" providerId="LiveId" clId="{242C73C2-E1F4-4639-AF2E-01D1AD67371D}" dt="2026-08-31T04:38:34.081" v="116" actId="478"/>
          <ac:picMkLst>
            <pc:docMk/>
            <pc:sldMk cId="2067827492" sldId="288"/>
            <ac:picMk id="7" creationId="{CDBB53C7-71C9-16C7-5333-DF4BC7CE54BF}"/>
          </ac:picMkLst>
        </pc:picChg>
      </pc:sldChg>
      <pc:sldChg chg="addSp delSp modSp add mod">
        <pc:chgData name="Anu Keerthana" userId="0862dacf09f3b73d" providerId="LiveId" clId="{242C73C2-E1F4-4639-AF2E-01D1AD67371D}" dt="2026-08-31T04:39:14.755" v="123" actId="1076"/>
        <pc:sldMkLst>
          <pc:docMk/>
          <pc:sldMk cId="2884842701" sldId="289"/>
        </pc:sldMkLst>
        <pc:spChg chg="mod">
          <ac:chgData name="Anu Keerthana" userId="0862dacf09f3b73d" providerId="LiveId" clId="{242C73C2-E1F4-4639-AF2E-01D1AD67371D}" dt="2026-08-31T03:21:49.289" v="105" actId="20577"/>
          <ac:spMkLst>
            <pc:docMk/>
            <pc:sldMk cId="2884842701" sldId="289"/>
            <ac:spMk id="2" creationId="{EAB3803C-2637-C0E3-53D4-0B12B36949C2}"/>
          </ac:spMkLst>
        </pc:spChg>
        <pc:spChg chg="del mod">
          <ac:chgData name="Anu Keerthana" userId="0862dacf09f3b73d" providerId="LiveId" clId="{242C73C2-E1F4-4639-AF2E-01D1AD67371D}" dt="2026-08-31T03:21:37.266" v="102"/>
          <ac:spMkLst>
            <pc:docMk/>
            <pc:sldMk cId="2884842701" sldId="289"/>
            <ac:spMk id="6" creationId="{41A5B314-ACDE-BBC7-E33F-3D79F5997698}"/>
          </ac:spMkLst>
        </pc:spChg>
        <pc:picChg chg="add mod">
          <ac:chgData name="Anu Keerthana" userId="0862dacf09f3b73d" providerId="LiveId" clId="{242C73C2-E1F4-4639-AF2E-01D1AD67371D}" dt="2026-08-31T04:39:14.755" v="123" actId="1076"/>
          <ac:picMkLst>
            <pc:docMk/>
            <pc:sldMk cId="2884842701" sldId="289"/>
            <ac:picMk id="6" creationId="{FA930585-D122-74E0-0282-5DBE04C9472B}"/>
          </ac:picMkLst>
        </pc:picChg>
        <pc:picChg chg="add del">
          <ac:chgData name="Anu Keerthana" userId="0862dacf09f3b73d" providerId="LiveId" clId="{242C73C2-E1F4-4639-AF2E-01D1AD67371D}" dt="2026-08-31T03:21:35.453" v="100" actId="22"/>
          <ac:picMkLst>
            <pc:docMk/>
            <pc:sldMk cId="2884842701" sldId="289"/>
            <ac:picMk id="7" creationId="{86B2432B-1066-06A5-61AD-C4F5DBB48B03}"/>
          </ac:picMkLst>
        </pc:picChg>
        <pc:picChg chg="add del mod">
          <ac:chgData name="Anu Keerthana" userId="0862dacf09f3b73d" providerId="LiveId" clId="{242C73C2-E1F4-4639-AF2E-01D1AD67371D}" dt="2026-08-31T04:39:00.827" v="120" actId="478"/>
          <ac:picMkLst>
            <pc:docMk/>
            <pc:sldMk cId="2884842701" sldId="289"/>
            <ac:picMk id="9" creationId="{A4FDED1C-0F7B-51CC-C089-25E1D2CAEE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4225" y="-2"/>
            <a:ext cx="8867775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7536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7649" y="149288"/>
            <a:ext cx="9156700" cy="14197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765" y="1877811"/>
            <a:ext cx="10364469" cy="417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42294C-40C1-5C94-2F16-C6F267E5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DF8940-AF39-0F95-331A-6E34DB9E945A}"/>
              </a:ext>
            </a:extLst>
          </p:cNvPr>
          <p:cNvSpPr txBox="1"/>
          <p:nvPr/>
        </p:nvSpPr>
        <p:spPr>
          <a:xfrm>
            <a:off x="6781800" y="4661923"/>
            <a:ext cx="4961255" cy="15901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700"/>
              </a:spcBef>
            </a:pPr>
            <a:r>
              <a:rPr lang="en-IN" sz="2000" b="1" spc="-20">
                <a:latin typeface="Times New Roman" panose="02020603050405020304"/>
                <a:cs typeface="Times New Roman" panose="02020603050405020304"/>
              </a:rPr>
              <a:t>Presented By:</a:t>
            </a:r>
          </a:p>
          <a:p>
            <a:pPr marL="393700">
              <a:lnSpc>
                <a:spcPct val="100000"/>
              </a:lnSpc>
              <a:spcBef>
                <a:spcPts val="700"/>
              </a:spcBef>
            </a:pPr>
            <a:r>
              <a:rPr sz="2000" b="1" spc="-2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2000" b="1" spc="-8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>
                <a:latin typeface="Times New Roman" panose="02020603050405020304"/>
                <a:cs typeface="Times New Roman" panose="02020603050405020304"/>
              </a:rPr>
              <a:t>Anu</a:t>
            </a:r>
            <a:r>
              <a:rPr sz="2000" b="1" spc="-1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>
                <a:latin typeface="Times New Roman" panose="02020603050405020304"/>
                <a:cs typeface="Times New Roman" panose="02020603050405020304"/>
              </a:rPr>
              <a:t>Keerthana</a:t>
            </a:r>
            <a:r>
              <a:rPr sz="2000" b="1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b="1" spc="-10">
                <a:latin typeface="Times New Roman" panose="02020603050405020304"/>
                <a:cs typeface="Times New Roman" panose="02020603050405020304"/>
              </a:rPr>
              <a:t> 192472057</a:t>
            </a:r>
            <a:endParaRPr lang="en-IN" sz="2000" b="1" spc="-10">
              <a:latin typeface="Times New Roman" panose="02020603050405020304"/>
              <a:cs typeface="Times New Roman" panose="02020603050405020304"/>
            </a:endParaRPr>
          </a:p>
          <a:p>
            <a:pPr marL="393700">
              <a:lnSpc>
                <a:spcPct val="100000"/>
              </a:lnSpc>
              <a:spcBef>
                <a:spcPts val="700"/>
              </a:spcBef>
            </a:pPr>
            <a:r>
              <a:rPr lang="en-IN" sz="2000" b="1" spc="-10">
                <a:latin typeface="Times New Roman" panose="02020603050405020304"/>
                <a:cs typeface="Times New Roman" panose="02020603050405020304"/>
              </a:rPr>
              <a:t>S. </a:t>
            </a:r>
            <a:r>
              <a:rPr lang="en-IN" sz="2000" b="1" spc="-10" err="1">
                <a:latin typeface="Times New Roman" panose="02020603050405020304"/>
                <a:cs typeface="Times New Roman" panose="02020603050405020304"/>
              </a:rPr>
              <a:t>Sirivally</a:t>
            </a:r>
            <a:r>
              <a:rPr lang="en-IN" sz="2000" b="1" spc="-10">
                <a:latin typeface="Times New Roman" panose="02020603050405020304"/>
                <a:cs typeface="Times New Roman" panose="02020603050405020304"/>
              </a:rPr>
              <a:t>- 192472371</a:t>
            </a:r>
          </a:p>
          <a:p>
            <a:pPr marL="393700">
              <a:lnSpc>
                <a:spcPct val="100000"/>
              </a:lnSpc>
              <a:spcBef>
                <a:spcPts val="700"/>
              </a:spcBef>
            </a:pPr>
            <a:r>
              <a:rPr lang="en-IN" sz="2000" b="1" spc="-10">
                <a:latin typeface="Times New Roman" panose="02020603050405020304"/>
                <a:cs typeface="Times New Roman" panose="02020603050405020304"/>
              </a:rPr>
              <a:t>M. Madhulika-192472188</a:t>
            </a:r>
            <a:endParaRPr sz="200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9E32007-D6F0-D923-8AF2-C287EB306837}"/>
              </a:ext>
            </a:extLst>
          </p:cNvPr>
          <p:cNvSpPr txBox="1"/>
          <p:nvPr/>
        </p:nvSpPr>
        <p:spPr>
          <a:xfrm>
            <a:off x="2814956" y="3429000"/>
            <a:ext cx="8928099" cy="4591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A6502-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for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Large Language Models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A0075DB-7F96-05FF-524E-770B580CF61E}"/>
              </a:ext>
            </a:extLst>
          </p:cNvPr>
          <p:cNvSpPr txBox="1"/>
          <p:nvPr/>
        </p:nvSpPr>
        <p:spPr>
          <a:xfrm>
            <a:off x="762000" y="4661923"/>
            <a:ext cx="2942273" cy="916276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245"/>
              </a:spcBef>
            </a:pPr>
            <a:r>
              <a:rPr sz="2000" b="1" spc="-10">
                <a:latin typeface="Times New Roman" panose="02020603050405020304"/>
                <a:cs typeface="Times New Roman" panose="02020603050405020304"/>
              </a:rPr>
              <a:t>Supervisor:</a:t>
            </a:r>
            <a:endParaRPr sz="2000" b="1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ct val="100000"/>
              </a:lnSpc>
              <a:spcBef>
                <a:spcPts val="1145"/>
              </a:spcBef>
            </a:pPr>
            <a:r>
              <a:rPr sz="2000" b="1">
                <a:latin typeface="Times New Roman" panose="02020603050405020304"/>
                <a:cs typeface="Times New Roman" panose="02020603050405020304"/>
              </a:rPr>
              <a:t>Dr.</a:t>
            </a:r>
            <a:r>
              <a:rPr sz="2000" b="1" spc="-8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2000" b="1" spc="-80">
                <a:latin typeface="Times New Roman" panose="02020603050405020304"/>
                <a:cs typeface="Times New Roman" panose="02020603050405020304"/>
              </a:rPr>
              <a:t>NITHISHA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1528657-E012-08D3-F3C3-A38C4BD20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675" y="1094773"/>
            <a:ext cx="102489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n-IN" sz="4400" err="1"/>
              <a:t>NyayaMithra</a:t>
            </a:r>
            <a:r>
              <a:rPr lang="en-IN" sz="4400"/>
              <a:t>: A Generative AI-Based Legal Assistance System for Indian Citizens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20400382-7C14-8CA8-7A1F-D75FBEB8CC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EA3E2EE7-993D-63AE-2CDB-2ECC4089FD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49" y="149288"/>
            <a:ext cx="9156700" cy="853695"/>
          </a:xfrm>
          <a:prstGeom prst="rect">
            <a:avLst/>
          </a:prstGeom>
        </p:spPr>
        <p:txBody>
          <a:bodyPr vert="horz" wrap="square" lIns="0" tIns="174879" rIns="0" bIns="0" rtlCol="0">
            <a:spAutoFit/>
          </a:bodyPr>
          <a:lstStyle/>
          <a:p>
            <a:pPr marL="1685925">
              <a:lnSpc>
                <a:spcPct val="100000"/>
              </a:lnSpc>
              <a:spcBef>
                <a:spcPts val="105"/>
              </a:spcBef>
            </a:pPr>
            <a:r>
              <a:rPr lang="en-US" sz="4400" spc="-10"/>
              <a:t>     </a:t>
            </a:r>
            <a:r>
              <a:rPr sz="4400" b="0" spc="-10"/>
              <a:t>INTRODUCTION</a:t>
            </a:r>
            <a:endParaRPr sz="4400" b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flipV="1">
            <a:off x="4191001" y="5897880"/>
            <a:ext cx="96984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64562" y="1702126"/>
            <a:ext cx="6926838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Access to legal information is difficult for many Indian citizens due to complex legal language and high consultation costs.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Most legal resources are available on government portals, making them difficult for common people to understand.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Citizens often face challenges in understanding legal procedures, documents, and complaint filing.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NyayaMithra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a Generative AI-based legal assistant that provides simple and reliable legal guidance.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uses Retrieval-Augmented Generation (RAG) to retrieve information from official Indian legal documents and generate accurate.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0E65B-85DD-AFCE-921B-94317A0BB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6" b="65111"/>
          <a:stretch>
            <a:fillRect/>
          </a:stretch>
        </p:blipFill>
        <p:spPr>
          <a:xfrm>
            <a:off x="7543800" y="2286000"/>
            <a:ext cx="4354804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3025" y="368489"/>
            <a:ext cx="9156700" cy="853695"/>
          </a:xfrm>
          <a:prstGeom prst="rect">
            <a:avLst/>
          </a:prstGeom>
        </p:spPr>
        <p:txBody>
          <a:bodyPr vert="horz" wrap="square" lIns="0" tIns="174879" rIns="0" bIns="0" rtlCol="0">
            <a:spAutoFit/>
          </a:bodyPr>
          <a:lstStyle/>
          <a:p>
            <a:pPr marL="1757680">
              <a:lnSpc>
                <a:spcPct val="100000"/>
              </a:lnSpc>
              <a:spcBef>
                <a:spcPts val="105"/>
              </a:spcBef>
            </a:pPr>
            <a:r>
              <a:rPr sz="4400" b="0"/>
              <a:t>P</a:t>
            </a:r>
            <a:r>
              <a:rPr lang="en-IN" sz="4400" b="0"/>
              <a:t>ROBLEM STATEMENT</a:t>
            </a:r>
            <a:endParaRPr sz="4400" b="0"/>
          </a:p>
        </p:txBody>
      </p:sp>
      <p:sp>
        <p:nvSpPr>
          <p:cNvPr id="3" name="object 3"/>
          <p:cNvSpPr txBox="1"/>
          <p:nvPr/>
        </p:nvSpPr>
        <p:spPr>
          <a:xfrm>
            <a:off x="1828800" y="1828800"/>
            <a:ext cx="8823325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Many Indian citizens lack awareness of their legal rights and procedures.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Legal information is often written in complex language, making it difficult for non-lawyers to understand.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Hiring legal professionals can be expensive and time-consuming.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legal documents and preparing complaints or applications is challenging for common citizens.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AI-powered legal assistant that provides simple, reliable, and accessible legal guidance using official legal sources.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368489"/>
            <a:ext cx="9156700" cy="853695"/>
          </a:xfrm>
          <a:prstGeom prst="rect">
            <a:avLst/>
          </a:prstGeom>
        </p:spPr>
        <p:txBody>
          <a:bodyPr vert="horz" wrap="square" lIns="0" tIns="174879" rIns="0" bIns="0" rtlCol="0">
            <a:spAutoFit/>
          </a:bodyPr>
          <a:lstStyle/>
          <a:p>
            <a:pPr marL="2409825">
              <a:lnSpc>
                <a:spcPct val="100000"/>
              </a:lnSpc>
              <a:spcBef>
                <a:spcPts val="105"/>
              </a:spcBef>
            </a:pPr>
            <a:r>
              <a:rPr sz="4400" b="0" spc="-10"/>
              <a:t>OBJECTIVES</a:t>
            </a:r>
            <a:endParaRPr sz="4400" b="0"/>
          </a:p>
        </p:txBody>
      </p:sp>
      <p:sp>
        <p:nvSpPr>
          <p:cNvPr id="3" name="object 3"/>
          <p:cNvSpPr txBox="1"/>
          <p:nvPr/>
        </p:nvSpPr>
        <p:spPr>
          <a:xfrm>
            <a:off x="457200" y="2514600"/>
            <a:ext cx="7086600" cy="299953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Simplify Indian legal information into easy-to-understand language.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Answer legal questions using official legal documents.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summarize legal documents.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Generate legal complaint and application drafts.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Support multilingual interaction.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Improve legal awareness using Generative AI.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438400"/>
            <a:ext cx="38862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5665" y="310832"/>
            <a:ext cx="53733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/>
              <a:t>    </a:t>
            </a:r>
            <a:r>
              <a:rPr sz="4400" b="0"/>
              <a:t>Literature</a:t>
            </a:r>
            <a:r>
              <a:rPr sz="4400" b="0" spc="-90"/>
              <a:t> </a:t>
            </a:r>
            <a:r>
              <a:rPr sz="4400" b="0" spc="-10"/>
              <a:t>Review</a:t>
            </a:r>
            <a:endParaRPr sz="4400" b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F85142-357A-2BB4-EE39-537CE9239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27544"/>
              </p:ext>
            </p:extLst>
          </p:nvPr>
        </p:nvGraphicFramePr>
        <p:xfrm>
          <a:off x="838200" y="1716002"/>
          <a:ext cx="10915879" cy="43698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1842">
                  <a:extLst>
                    <a:ext uri="{9D8B030D-6E8A-4147-A177-3AD203B41FA5}">
                      <a16:colId xmlns:a16="http://schemas.microsoft.com/office/drawing/2014/main" val="3918900496"/>
                    </a:ext>
                  </a:extLst>
                </a:gridCol>
                <a:gridCol w="1303554">
                  <a:extLst>
                    <a:ext uri="{9D8B030D-6E8A-4147-A177-3AD203B41FA5}">
                      <a16:colId xmlns:a16="http://schemas.microsoft.com/office/drawing/2014/main" val="51998728"/>
                    </a:ext>
                  </a:extLst>
                </a:gridCol>
                <a:gridCol w="2572542">
                  <a:extLst>
                    <a:ext uri="{9D8B030D-6E8A-4147-A177-3AD203B41FA5}">
                      <a16:colId xmlns:a16="http://schemas.microsoft.com/office/drawing/2014/main" val="1425780350"/>
                    </a:ext>
                  </a:extLst>
                </a:gridCol>
                <a:gridCol w="1493962">
                  <a:extLst>
                    <a:ext uri="{9D8B030D-6E8A-4147-A177-3AD203B41FA5}">
                      <a16:colId xmlns:a16="http://schemas.microsoft.com/office/drawing/2014/main" val="4169867736"/>
                    </a:ext>
                  </a:extLst>
                </a:gridCol>
                <a:gridCol w="1680882">
                  <a:extLst>
                    <a:ext uri="{9D8B030D-6E8A-4147-A177-3AD203B41FA5}">
                      <a16:colId xmlns:a16="http://schemas.microsoft.com/office/drawing/2014/main" val="3713140911"/>
                    </a:ext>
                  </a:extLst>
                </a:gridCol>
                <a:gridCol w="2283097">
                  <a:extLst>
                    <a:ext uri="{9D8B030D-6E8A-4147-A177-3AD203B41FA5}">
                      <a16:colId xmlns:a16="http://schemas.microsoft.com/office/drawing/2014/main" val="3741270689"/>
                    </a:ext>
                  </a:extLst>
                </a:gridCol>
              </a:tblGrid>
              <a:tr h="270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Author Name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Year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Title of Paper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Journal/Conference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Limitations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4098623826"/>
                  </a:ext>
                </a:extLst>
              </a:tr>
              <a:tr h="85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Bommarito II, M. &amp; Katz, D.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GPT-4 Passes the Bar Exam: Artificial Intelligence and Legal Reasoning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Artificial Intelligence &amp; Law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GPT-4, Large Language Models (LLMs)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May generate hallucinated legal information without external knowledge.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3171476465"/>
                  </a:ext>
                </a:extLst>
              </a:tr>
              <a:tr h="734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Lewis et al.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2022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Retrieval-Augmented Generation for Knowledge-Intensive NLP Tasks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NeurIPS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Retrieval-Augmented Generation (RAG), Dense Retrieval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Performance depends on the quality of the retrieved documents.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816357206"/>
                  </a:ext>
                </a:extLst>
              </a:tr>
              <a:tr h="85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Xiao Liu et al.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2023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ChatLaw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: Open-Source Legal Large Language Model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arXiv</a:t>
                      </a:r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LLM Fine-Tuning, Legal QA, Prompt Engineering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Primarily trained on Chinese legal datasets, limiting direct applicability to Indian law.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1707325794"/>
                  </a:ext>
                </a:extLst>
              </a:tr>
              <a:tr h="734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Jiang et al.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Large Language Models for Legal Intelligence: A Survey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ACM Computing Surveys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LLMs, RAG, Prompt Engineering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Highlights concerns regarding bias, explainability, and legal reliability.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2320035070"/>
                  </a:ext>
                </a:extLst>
              </a:tr>
              <a:tr h="734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Zheng et al.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LegalRAG</a:t>
                      </a:r>
                      <a:r>
                        <a:rPr lang="en-IN" sz="1400">
                          <a:latin typeface="Times New Roman"/>
                          <a:cs typeface="Times New Roman"/>
                        </a:rPr>
                        <a:t>: Retrieval-Augmented Generation for Legal Document Understanding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IEEE Access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RAG, Vector Database, Semantic Search</a:t>
                      </a:r>
                    </a:p>
                  </a:txBody>
                  <a:tcPr marL="38659" marR="38659" marT="19329" marB="19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/>
                          <a:cs typeface="Times New Roman"/>
                        </a:rPr>
                        <a:t>Requires updated legal knowledge bases for accurate responses.</a:t>
                      </a:r>
                    </a:p>
                  </a:txBody>
                  <a:tcPr marL="38659" marR="38659" marT="19329" marB="19329" anchor="ctr"/>
                </a:tc>
                <a:extLst>
                  <a:ext uri="{0D108BD9-81ED-4DB2-BD59-A6C34878D82A}">
                    <a16:rowId xmlns:a16="http://schemas.microsoft.com/office/drawing/2014/main" val="21822656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429E4B-AB9B-E216-895C-D70719FFA8C4}"/>
              </a:ext>
            </a:extLst>
          </p:cNvPr>
          <p:cNvSpPr txBox="1"/>
          <p:nvPr/>
        </p:nvSpPr>
        <p:spPr>
          <a:xfrm flipH="1">
            <a:off x="1981200" y="410616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     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72EC4-AB8E-EA0F-9E69-FC469C02C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>
          <a:xfrm>
            <a:off x="755015" y="1646784"/>
            <a:ext cx="107035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4162" y="304800"/>
            <a:ext cx="65532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4000"/>
              <a:t>AI Legal Advisor &amp; Rights Navigator </a:t>
            </a:r>
            <a:endParaRPr lang="en-IN" sz="4000" spc="-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161925"/>
            <a:ext cx="1000125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52400"/>
            <a:ext cx="1104900" cy="1095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0800000">
            <a:off x="4020128" y="4134475"/>
            <a:ext cx="127003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 rot="10800000" flipV="1">
            <a:off x="533400" y="2057202"/>
            <a:ext cx="11353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legal guidance by explaining Indian laws, citizen rights, and legal procedures in simple language.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RAG, Large Language Model (LLM), NLP, Semantic Search, Prompt Engineering.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India Code, BNS, BNSS, BSA, Vector Database, Embedding Model, LLM API,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asks a legal question.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Relevant legal sections are retrieved.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generates a simple explanation.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Legal references are displayed.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receives guidance with citations.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44B3AD-D61D-B7FE-FDBA-5D8D32E1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052F44-EE6D-D439-4405-83864EB37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4162" y="304800"/>
            <a:ext cx="6553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1:Implementation</a:t>
            </a:r>
            <a:endParaRPr lang="en-IN" sz="4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4C0F9EF-E5F2-D843-8253-65D527F6E1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161925"/>
            <a:ext cx="1000125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571526D-164A-CB05-8294-C1348DA444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52400"/>
            <a:ext cx="1104900" cy="1095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365522-8E92-E301-6352-644F5753D0BE}"/>
              </a:ext>
            </a:extLst>
          </p:cNvPr>
          <p:cNvSpPr txBox="1"/>
          <p:nvPr/>
        </p:nvSpPr>
        <p:spPr>
          <a:xfrm rot="10800000">
            <a:off x="4020128" y="4134475"/>
            <a:ext cx="127003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952BF-0185-C5E2-4306-301C6473E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880" y="1507490"/>
            <a:ext cx="7965440" cy="4232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C61621-20EC-829D-5901-AC06CEDD3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" y="1247775"/>
            <a:ext cx="10231120" cy="526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91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49" y="149288"/>
            <a:ext cx="9156700" cy="1332673"/>
          </a:xfrm>
          <a:prstGeom prst="rect">
            <a:avLst/>
          </a:prstGeom>
        </p:spPr>
        <p:txBody>
          <a:bodyPr vert="horz" wrap="square" lIns="0" tIns="100584" rIns="0" bIns="0" rtlCol="0">
            <a:spAutoFit/>
          </a:bodyPr>
          <a:lstStyle/>
          <a:p>
            <a:pPr marL="13970" algn="ctr">
              <a:spcBef>
                <a:spcPts val="105"/>
              </a:spcBef>
            </a:pPr>
            <a:r>
              <a:rPr lang="en-US" sz="4000"/>
              <a:t>Module 2: </a:t>
            </a:r>
            <a:r>
              <a:rPr lang="en-IN" sz="4000"/>
              <a:t>Smart Legal Document Intelligence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2133600"/>
            <a:ext cx="11125200" cy="3746538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</a:p>
          <a:p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legal documents, summarizes content, and explains important clauses in simple language.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Document Parsing, Text Summarization, RAG, NLP, OCR (Optional).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PDF Upload,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Embedding Model, Vector Database, LLM,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 legal document.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Text is extracted and processed.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summarizes the document.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clauses and risks are identified.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results are displayed.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93A125-B609-9A06-5E60-EE2C2A97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59A78-F5F7-797F-E232-662BF2B0B6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7649" y="149288"/>
            <a:ext cx="9156700" cy="717119"/>
          </a:xfrm>
          <a:prstGeom prst="rect">
            <a:avLst/>
          </a:prstGeom>
        </p:spPr>
        <p:txBody>
          <a:bodyPr vert="horz" wrap="square" lIns="0" tIns="100584" rIns="0" bIns="0" rtlCol="0">
            <a:spAutoFit/>
          </a:bodyPr>
          <a:lstStyle/>
          <a:p>
            <a:pPr marL="13970" algn="ctr">
              <a:spcBef>
                <a:spcPts val="105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2:Implementation</a:t>
            </a:r>
            <a:endParaRPr sz="4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D3A8EA7-E2C3-2920-D55E-DB113511BB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257175"/>
            <a:ext cx="1009650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AFD884C-2FB9-C24A-05DE-E28E12D14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6125" y="247650"/>
            <a:ext cx="1104900" cy="1095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50263D-CB89-1B57-BC37-117473E7B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5" y="1497470"/>
            <a:ext cx="10302240" cy="468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27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7650" y="152400"/>
            <a:ext cx="9156700" cy="1454116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sz="4000"/>
              <a:t>Module 3: </a:t>
            </a:r>
            <a:r>
              <a:rPr lang="en-IN" sz="4000"/>
              <a:t>AI Legal Action &amp; Draft Assistant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10554"/>
            <a:ext cx="1009650" cy="10858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01029"/>
            <a:ext cx="1104900" cy="1104900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 rot="10800000" flipV="1">
            <a:off x="914400" y="1828800"/>
            <a:ext cx="114490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Generates legal complaint and application drafts based on user-provided information.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Engineering, LLM, Natural Language Generation (NLG), Template-Based Generation.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Draft Templates, User Forms, LLM API, Document Generator (PDF/DOCX), </a:t>
            </a:r>
            <a:r>
              <a:rPr lang="en-IN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 document type.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Required details are entered.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 generates the legal draft.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reviews the draft.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Document is downloaded or edited.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F9D46D-AA3E-3E2B-CB21-59B9658F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B3803C-2637-C0E3-53D4-0B12B36949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7650" y="152400"/>
            <a:ext cx="9156700" cy="838563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80"/>
              </a:spcBef>
              <a:tabLst>
                <a:tab pos="52705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3:Implementation</a:t>
            </a:r>
            <a:endParaRPr sz="4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910A08E-3DA3-B39B-E39E-1EB03D39CA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10554"/>
            <a:ext cx="1009650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6C656CA-6137-A67E-4535-9328B505BC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01029"/>
            <a:ext cx="110490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30585-D122-74E0-0282-5DBE04C94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" y="1464620"/>
            <a:ext cx="10674350" cy="48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4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1D46BC-D49D-0C9F-42D5-D3E02520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96F82F-A275-C65F-6FDC-380BA3CC9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7650" y="152400"/>
            <a:ext cx="9156700" cy="1454116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spcBef>
                <a:spcPts val="680"/>
              </a:spcBef>
              <a:tabLst>
                <a:tab pos="527050" algn="l"/>
              </a:tabLst>
            </a:pPr>
            <a:r>
              <a:rPr lang="en-US" alt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lang="en-US" alt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195412-CD1D-722F-D7E9-DB30350DE2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10554"/>
            <a:ext cx="1009650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5884CCC-7633-D94A-B803-9E579FFA91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01029"/>
            <a:ext cx="1104900" cy="110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BE3FFA-2584-2C0A-5AF9-B41EED0DCB54}"/>
              </a:ext>
            </a:extLst>
          </p:cNvPr>
          <p:cNvSpPr txBox="1"/>
          <p:nvPr/>
        </p:nvSpPr>
        <p:spPr>
          <a:xfrm>
            <a:off x="1219200" y="1818640"/>
            <a:ext cx="10078720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Extend assistance to major Indian regional languages.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Legal Assistance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users to ask legal queries using voice.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Legal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updated Indian laws, acts, and court judgments.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Legal Guidance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responses based on the user's specific case details.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 Automation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generate petitions, applications, notices, and complaints.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 &amp; Case Tracking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case-status and hearing-date information through integration with official sources.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RAG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Improve accuracy by retrieving information from verified legal databases.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an Android/iOS app for easier access to legal assistance.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91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B2D7AB-3440-EB28-B34A-8FEA9AB4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1A996D-1150-5ACE-F224-7C1481568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7650" y="152400"/>
            <a:ext cx="9156700" cy="1454116"/>
          </a:xfrm>
          <a:prstGeom prst="rect">
            <a:avLst/>
          </a:prstGeom>
        </p:spPr>
        <p:txBody>
          <a:bodyPr vert="horz" wrap="square" lIns="0" tIns="220853" rIns="0" bIns="0" rtlCol="0">
            <a:spAutoFit/>
          </a:bodyPr>
          <a:lstStyle/>
          <a:p>
            <a:pPr marL="12700" algn="ctr">
              <a:spcBef>
                <a:spcPts val="680"/>
              </a:spcBef>
              <a:tabLst>
                <a:tab pos="527050" algn="l"/>
              </a:tabLst>
            </a:pPr>
            <a:r>
              <a:rPr lang="en-US" alt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br>
              <a:rPr lang="en-US" alt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28EE976-DA91-F903-23B7-31D315F497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10554"/>
            <a:ext cx="1009650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640219B-0334-0BEE-638A-1B2B840AD4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0" y="101029"/>
            <a:ext cx="1104900" cy="110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6DE33-F65F-F562-1028-A4465BD43300}"/>
              </a:ext>
            </a:extLst>
          </p:cNvPr>
          <p:cNvSpPr txBox="1"/>
          <p:nvPr/>
        </p:nvSpPr>
        <p:spPr>
          <a:xfrm>
            <a:off x="2651760" y="1627287"/>
            <a:ext cx="7630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Data Availability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Collecting reliable and updated Indian legal documents.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Responses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Generative AI may sometimes produce incorrect or misleading information.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Legal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Converting complicated legal terminology into simple language.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Complexity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Maintaining accuracy across different Indian languages.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Protecting sensitive personal and legal information provided by users.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Risk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may generate information that is not supported by legal sources.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Law Changes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Keeping the knowledge base updated with amendments and new judgments. 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Responsibility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Ensuring the system provides assistance without replacing professional legal advice.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084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D973-DAA3-480E-A7C5-1B2AE0EE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649" y="377297"/>
            <a:ext cx="9156700" cy="738664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dirty="0"/>
              <a:t> CONCLUSION</a:t>
            </a:r>
            <a:endParaRPr lang="en-GB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904237D-4318-4AF8-99FF-DB0CB129CA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03704"/>
            <a:ext cx="1009650" cy="108585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8A065E1-94FB-4256-97E5-C5030966A9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400" y="203704"/>
            <a:ext cx="1104900" cy="11049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71E1B50-127E-4F93-9BD7-C13B48619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8693" y="2296118"/>
            <a:ext cx="976058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000" dirty="0" err="1"/>
              <a:t>NyayaMithra</a:t>
            </a:r>
            <a:r>
              <a:rPr lang="en-US" sz="2000" dirty="0"/>
              <a:t> leverages Generative AI and Retrieval-Augmented Generation (RAG) to make legal information simple, accessible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, and </a:t>
            </a:r>
            <a:r>
              <a:rPr lang="en-US" sz="2000" dirty="0"/>
              <a:t>reliable for Indian citizens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. </a:t>
            </a:r>
            <a:endParaRPr lang="en-US" sz="2000" dirty="0"/>
          </a:p>
          <a:p>
            <a:pPr marL="342900" indent="-342900" algn="l">
              <a:buFont typeface="Arial"/>
              <a:buChar char="•"/>
            </a:pPr>
            <a:r>
              <a:rPr lang="en-US" sz="2000"/>
              <a:t>The system provides legal guidance, document </a:t>
            </a:r>
            <a:r>
              <a:rPr kumimoji="0" lang="en-US" sz="2000" i="0" u="none" strike="noStrike" cap="none" normalizeH="0" baseline="0">
                <a:ln>
                  <a:noFill/>
                </a:ln>
                <a:effectLst/>
              </a:rPr>
              <a:t>analysis</a:t>
            </a:r>
            <a:r>
              <a:rPr lang="en-US" sz="2000"/>
              <a:t>, and legal draft generation using official legal sources. 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dirty="0"/>
              <a:t>It promotes legal awareness, reduces the complexity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 of </a:t>
            </a:r>
            <a:r>
              <a:rPr lang="en-US" sz="2000" dirty="0"/>
              <a:t>legal procedures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, and </a:t>
            </a:r>
            <a:r>
              <a:rPr lang="en-US" sz="2000" dirty="0"/>
              <a:t>improves access to legal information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. </a:t>
            </a:r>
            <a:endParaRPr lang="en-US" sz="2000" dirty="0"/>
          </a:p>
          <a:p>
            <a:pPr marL="342900" indent="-342900" algn="l">
              <a:buFont typeface="Arial"/>
              <a:buChar char="•"/>
            </a:pP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The </a:t>
            </a:r>
            <a:r>
              <a:rPr lang="en-US" sz="2000" dirty="0"/>
              <a:t>platform is designed as an informational and educational assistant, supporting—not replacing—professional legal services. </a:t>
            </a:r>
          </a:p>
          <a:p>
            <a:pPr marL="342900" indent="-342900" algn="l">
              <a:buFont typeface="Arial"/>
              <a:buChar char="•"/>
            </a:pPr>
            <a:r>
              <a:rPr lang="en-US" sz="2000" dirty="0"/>
              <a:t>Future enhancements include voice support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lang="en-US" sz="2000" dirty="0"/>
              <a:t>regional language expansion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lang="en-US" sz="2000" dirty="0"/>
              <a:t>real-time legal updates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, and </a:t>
            </a:r>
            <a:r>
              <a:rPr lang="en-US" sz="2000" dirty="0"/>
              <a:t>integration with government legal portals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lang="en-US" sz="2000" dirty="0"/>
          </a:p>
          <a:p>
            <a:pPr marL="342900" marR="0" lvl="0" indent="-3429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</a:pPr>
            <a:endParaRPr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23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B62EF6-312E-42DA-9698-23381C127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42" y="2123893"/>
            <a:ext cx="7459116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3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1080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NyayaMithra: A Generative AI-Based Legal Assistance System for Indian Citizens</vt:lpstr>
      <vt:lpstr>     INTRODUCTION</vt:lpstr>
      <vt:lpstr>PROBLEM STATEMENT</vt:lpstr>
      <vt:lpstr>OBJECTIVES</vt:lpstr>
      <vt:lpstr>    Literature Review</vt:lpstr>
      <vt:lpstr>PowerPoint Presentation</vt:lpstr>
      <vt:lpstr>Module 1: AI Legal Advisor &amp; Rights Navigator </vt:lpstr>
      <vt:lpstr>Module 1:Implementation</vt:lpstr>
      <vt:lpstr>Module 2: Smart Legal Document Intelligence</vt:lpstr>
      <vt:lpstr>Module 2:Implementation</vt:lpstr>
      <vt:lpstr>Module 3: AI Legal Action &amp; Draft Assistant</vt:lpstr>
      <vt:lpstr>Module 3:Implementation</vt:lpstr>
      <vt:lpstr>Future Enhancements </vt:lpstr>
      <vt:lpstr>Challenges Faced </vt:lpstr>
      <vt:lpstr>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Consumer Loan Approval Using Credit Risk Data</dc:title>
  <dc:creator>Anu Keerthana</dc:creator>
  <cp:lastModifiedBy>Anu Keerthana</cp:lastModifiedBy>
  <cp:revision>2</cp:revision>
  <dcterms:created xsi:type="dcterms:W3CDTF">2026-02-16T16:02:00Z</dcterms:created>
  <dcterms:modified xsi:type="dcterms:W3CDTF">2026-08-31T04:39:16Z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2026-02-16T05:30:00Z</vt:filetime>
  </property>
  <property fmtid="{D5CDD505-2E9C-101B-9397-08002B2CF9AE}" pid="3" name="LastSaved">
    <vt:filetime>2026-02-16T05:30:00Z</vt:filetime>
  </property>
  <property fmtid="{D5CDD505-2E9C-101B-9397-08002B2CF9AE}" pid="4" name="KSOProductBuildVer">
    <vt:lpwstr>1033-12.1.0.25862</vt:lpwstr>
  </property>
  <property fmtid="{D5CDD505-2E9C-101B-9397-08002B2CF9AE}" pid="5" name="ICV">
    <vt:lpwstr>DEC9A535EFD3481E8967A2033DDA6144_13</vt:lpwstr>
  </property>
</Properties>
</file>